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78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4E21-ECB7-4522-B9AB-2FE3B931DE69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03018-4799-4063-B2F2-7DC3A70E6F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8919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4E21-ECB7-4522-B9AB-2FE3B931DE69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03018-4799-4063-B2F2-7DC3A70E6F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4079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4E21-ECB7-4522-B9AB-2FE3B931DE69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03018-4799-4063-B2F2-7DC3A70E6F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8987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4E21-ECB7-4522-B9AB-2FE3B931DE69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03018-4799-4063-B2F2-7DC3A70E6F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6368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4E21-ECB7-4522-B9AB-2FE3B931DE69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03018-4799-4063-B2F2-7DC3A70E6F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8054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4E21-ECB7-4522-B9AB-2FE3B931DE69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03018-4799-4063-B2F2-7DC3A70E6F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695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4E21-ECB7-4522-B9AB-2FE3B931DE69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03018-4799-4063-B2F2-7DC3A70E6F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4227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4E21-ECB7-4522-B9AB-2FE3B931DE69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03018-4799-4063-B2F2-7DC3A70E6F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0423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4E21-ECB7-4522-B9AB-2FE3B931DE69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03018-4799-4063-B2F2-7DC3A70E6F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8716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4E21-ECB7-4522-B9AB-2FE3B931DE69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03018-4799-4063-B2F2-7DC3A70E6F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6334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4E21-ECB7-4522-B9AB-2FE3B931DE69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03018-4799-4063-B2F2-7DC3A70E6F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7259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14E21-ECB7-4522-B9AB-2FE3B931DE69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03018-4799-4063-B2F2-7DC3A70E6F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3843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898" y="2275859"/>
            <a:ext cx="4930542" cy="4351338"/>
          </a:xfrm>
        </p:spPr>
      </p:pic>
      <p:sp>
        <p:nvSpPr>
          <p:cNvPr id="5" name="雲形吹き出し 4"/>
          <p:cNvSpPr/>
          <p:nvPr/>
        </p:nvSpPr>
        <p:spPr>
          <a:xfrm>
            <a:off x="6272664" y="972874"/>
            <a:ext cx="4517471" cy="1893053"/>
          </a:xfrm>
          <a:prstGeom prst="cloudCallout">
            <a:avLst>
              <a:gd name="adj1" fmla="val 10868"/>
              <a:gd name="adj2" fmla="val 76617"/>
            </a:avLst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吹き出し 23"/>
          <p:cNvSpPr/>
          <p:nvPr/>
        </p:nvSpPr>
        <p:spPr>
          <a:xfrm>
            <a:off x="5501390" y="390152"/>
            <a:ext cx="1592472" cy="690363"/>
          </a:xfrm>
          <a:prstGeom prst="wedgeRectCallout">
            <a:avLst>
              <a:gd name="adj1" fmla="val 38904"/>
              <a:gd name="adj2" fmla="val 86814"/>
            </a:avLst>
          </a:prstGeom>
          <a:solidFill>
            <a:schemeClr val="bg1">
              <a:lumMod val="95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795631" y="514088"/>
            <a:ext cx="1298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なぜ？</a:t>
            </a:r>
            <a:endParaRPr kumimoji="1" lang="ja-JP" altLang="en-US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雲形吹き出し 9"/>
          <p:cNvSpPr/>
          <p:nvPr/>
        </p:nvSpPr>
        <p:spPr>
          <a:xfrm>
            <a:off x="3268406" y="1231827"/>
            <a:ext cx="3420558" cy="1312513"/>
          </a:xfrm>
          <a:prstGeom prst="cloudCallout">
            <a:avLst>
              <a:gd name="adj1" fmla="val 29782"/>
              <a:gd name="adj2" fmla="val -61893"/>
            </a:avLst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/>
          <p:cNvSpPr/>
          <p:nvPr/>
        </p:nvSpPr>
        <p:spPr>
          <a:xfrm>
            <a:off x="5795631" y="1858603"/>
            <a:ext cx="335346" cy="360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3896955" y="1580537"/>
            <a:ext cx="2423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臨床で困るから</a:t>
            </a:r>
            <a:endParaRPr kumimoji="1" lang="ja-JP" altLang="en-US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四角形吹き出し 25"/>
          <p:cNvSpPr/>
          <p:nvPr/>
        </p:nvSpPr>
        <p:spPr>
          <a:xfrm>
            <a:off x="986246" y="331053"/>
            <a:ext cx="3313106" cy="1165702"/>
          </a:xfrm>
          <a:prstGeom prst="wedgeRectCallout">
            <a:avLst>
              <a:gd name="adj1" fmla="val 35722"/>
              <a:gd name="adj2" fmla="val 75234"/>
            </a:avLst>
          </a:prstGeom>
          <a:solidFill>
            <a:schemeClr val="bg1">
              <a:lumMod val="95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1109534" y="506598"/>
            <a:ext cx="32978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胸水</a:t>
            </a:r>
            <a:r>
              <a:rPr lang="en-US" altLang="ja-JP" sz="24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ADA</a:t>
            </a:r>
            <a:r>
              <a:rPr lang="ja-JP" altLang="en-US" sz="24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のカットオフ値はいくつに設定？</a:t>
            </a:r>
            <a:endParaRPr kumimoji="1" lang="ja-JP" altLang="en-US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雲形吹き出し 13"/>
          <p:cNvSpPr/>
          <p:nvPr/>
        </p:nvSpPr>
        <p:spPr>
          <a:xfrm>
            <a:off x="326789" y="1720418"/>
            <a:ext cx="3603546" cy="1493355"/>
          </a:xfrm>
          <a:prstGeom prst="cloudCallout">
            <a:avLst>
              <a:gd name="adj1" fmla="val 15009"/>
              <a:gd name="adj2" fmla="val -71306"/>
            </a:avLst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902284" y="2055179"/>
            <a:ext cx="29801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一般的</a:t>
            </a:r>
            <a:r>
              <a:rPr lang="ja-JP" altLang="en-US" sz="24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に使用して</a:t>
            </a:r>
            <a:endParaRPr lang="en-US" altLang="ja-JP" sz="2400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4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いる</a:t>
            </a:r>
            <a:r>
              <a:rPr lang="en-US" altLang="ja-JP" sz="24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40U/L</a:t>
            </a:r>
            <a:endParaRPr kumimoji="1" lang="ja-JP" altLang="en-US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7" name="四角形吹き出し 26"/>
          <p:cNvSpPr/>
          <p:nvPr/>
        </p:nvSpPr>
        <p:spPr>
          <a:xfrm>
            <a:off x="374488" y="3496110"/>
            <a:ext cx="3432426" cy="1165702"/>
          </a:xfrm>
          <a:prstGeom prst="wedgeRectCallout">
            <a:avLst>
              <a:gd name="adj1" fmla="val -2643"/>
              <a:gd name="adj2" fmla="val -88080"/>
            </a:avLst>
          </a:prstGeom>
          <a:solidFill>
            <a:schemeClr val="bg1">
              <a:lumMod val="95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432649" y="3663462"/>
            <a:ext cx="34006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40U/L</a:t>
            </a:r>
            <a:r>
              <a:rPr lang="ja-JP" altLang="en-US" sz="24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以上の症例だけ集めて意味ある？</a:t>
            </a:r>
            <a:endParaRPr kumimoji="1" lang="ja-JP" altLang="en-US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四角形吹き出し 27"/>
          <p:cNvSpPr/>
          <p:nvPr/>
        </p:nvSpPr>
        <p:spPr>
          <a:xfrm>
            <a:off x="3854613" y="2791086"/>
            <a:ext cx="3239249" cy="1037887"/>
          </a:xfrm>
          <a:prstGeom prst="wedgeRectCallout">
            <a:avLst>
              <a:gd name="adj1" fmla="val -71073"/>
              <a:gd name="adj2" fmla="val -52884"/>
            </a:avLst>
          </a:prstGeom>
          <a:solidFill>
            <a:schemeClr val="bg1">
              <a:lumMod val="95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4021282" y="2884094"/>
            <a:ext cx="30725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カットオフ値いっぱい</a:t>
            </a: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報告</a:t>
            </a:r>
            <a:r>
              <a:rPr lang="ja-JP" altLang="en-US" sz="24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あるけど？</a:t>
            </a:r>
            <a:endParaRPr kumimoji="1" lang="ja-JP" altLang="en-US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雲形吹き出し 21"/>
          <p:cNvSpPr/>
          <p:nvPr/>
        </p:nvSpPr>
        <p:spPr>
          <a:xfrm>
            <a:off x="600706" y="4760360"/>
            <a:ext cx="6169227" cy="2097639"/>
          </a:xfrm>
          <a:prstGeom prst="cloudCallout">
            <a:avLst>
              <a:gd name="adj1" fmla="val -9058"/>
              <a:gd name="adj2" fmla="val -68533"/>
            </a:avLst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雲形吹き出し 19"/>
          <p:cNvSpPr/>
          <p:nvPr/>
        </p:nvSpPr>
        <p:spPr>
          <a:xfrm>
            <a:off x="4968160" y="3865307"/>
            <a:ext cx="3603546" cy="1461784"/>
          </a:xfrm>
          <a:prstGeom prst="cloudCallout">
            <a:avLst>
              <a:gd name="adj1" fmla="val -4127"/>
              <a:gd name="adj2" fmla="val -68423"/>
            </a:avLst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5557572" y="4131208"/>
            <a:ext cx="28643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文献的に妥当性が一番高いと判断</a:t>
            </a:r>
            <a:endParaRPr kumimoji="1" lang="ja-JP" altLang="en-US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9" name="正方形/長方形 28"/>
          <p:cNvSpPr/>
          <p:nvPr/>
        </p:nvSpPr>
        <p:spPr>
          <a:xfrm>
            <a:off x="5456420" y="5692130"/>
            <a:ext cx="489067" cy="364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1780334" y="5172230"/>
            <a:ext cx="46519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ADA</a:t>
            </a:r>
            <a:r>
              <a:rPr lang="ja-JP" altLang="en-US" sz="24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は感度が高いから</a:t>
            </a:r>
            <a:r>
              <a:rPr lang="en-US" altLang="ja-JP" sz="24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40U/L</a:t>
            </a:r>
            <a:r>
              <a:rPr lang="ja-JP" altLang="en-US" sz="24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未満はほぼ否定して良い。</a:t>
            </a:r>
            <a:endParaRPr lang="en-US" altLang="ja-JP" sz="2400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4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ガイドラインも同じ意見。</a:t>
            </a:r>
            <a:endParaRPr kumimoji="1" lang="ja-JP" altLang="en-US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正方形/長方形 29"/>
          <p:cNvSpPr/>
          <p:nvPr/>
        </p:nvSpPr>
        <p:spPr>
          <a:xfrm>
            <a:off x="9860464" y="1830985"/>
            <a:ext cx="335346" cy="360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7033487" y="1335636"/>
            <a:ext cx="3588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胸水</a:t>
            </a:r>
            <a:r>
              <a:rPr lang="en-US" altLang="ja-JP" sz="24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ADA</a:t>
            </a:r>
            <a:r>
              <a:rPr lang="ja-JP" altLang="en-US" sz="24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高いのに結核じゃない症例に焦点を</a:t>
            </a:r>
            <a:endParaRPr lang="en-US" altLang="ja-JP" sz="2400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4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当てたい</a:t>
            </a:r>
            <a:endParaRPr kumimoji="1" lang="ja-JP" altLang="en-US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95059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77</Words>
  <Application>Microsoft Office PowerPoint</Application>
  <PresentationFormat>ワイド画面</PresentationFormat>
  <Paragraphs>12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BIZ UDPゴシック</vt:lpstr>
      <vt:lpstr>ＭＳ Ｐゴシック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Microsoft アカウント</dc:creator>
  <cp:lastModifiedBy>Microsoft アカウント</cp:lastModifiedBy>
  <cp:revision>8</cp:revision>
  <dcterms:created xsi:type="dcterms:W3CDTF">2026-01-05T06:25:00Z</dcterms:created>
  <dcterms:modified xsi:type="dcterms:W3CDTF">2026-01-06T05:42:21Z</dcterms:modified>
</cp:coreProperties>
</file>