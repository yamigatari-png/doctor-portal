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9" r:id="rId3"/>
    <p:sldId id="258" r:id="rId4"/>
  </p:sldIdLst>
  <p:sldSz cx="19799300" cy="12599988"/>
  <p:notesSz cx="6858000" cy="9144000"/>
  <p:defaultTextStyle>
    <a:defPPr>
      <a:defRPr lang="ja-JP"/>
    </a:defPPr>
    <a:lvl1pPr marL="0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1pPr>
    <a:lvl2pPr marL="691191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2pPr>
    <a:lvl3pPr marL="1382383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3pPr>
    <a:lvl4pPr marL="2073573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4pPr>
    <a:lvl5pPr marL="2764765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5pPr>
    <a:lvl6pPr marL="3455956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6pPr>
    <a:lvl7pPr marL="4147147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7pPr>
    <a:lvl8pPr marL="4838338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8pPr>
    <a:lvl9pPr marL="5529529" algn="l" defTabSz="1382383" rtl="0" eaLnBrk="1" latinLnBrk="0" hangingPunct="1">
      <a:defRPr kumimoji="1" sz="272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40" d="100"/>
          <a:sy n="40" d="100"/>
        </p:scale>
        <p:origin x="8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2062083"/>
            <a:ext cx="14849475" cy="4386662"/>
          </a:xfrm>
        </p:spPr>
        <p:txBody>
          <a:bodyPr anchor="b"/>
          <a:lstStyle>
            <a:lvl1pPr algn="ctr">
              <a:defRPr sz="9744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6617911"/>
            <a:ext cx="14849475" cy="3042080"/>
          </a:xfrm>
        </p:spPr>
        <p:txBody>
          <a:bodyPr/>
          <a:lstStyle>
            <a:lvl1pPr marL="0" indent="0" algn="ctr">
              <a:buNone/>
              <a:defRPr sz="3898"/>
            </a:lvl1pPr>
            <a:lvl2pPr marL="742493" indent="0" algn="ctr">
              <a:buNone/>
              <a:defRPr sz="3248"/>
            </a:lvl2pPr>
            <a:lvl3pPr marL="1484986" indent="0" algn="ctr">
              <a:buNone/>
              <a:defRPr sz="2923"/>
            </a:lvl3pPr>
            <a:lvl4pPr marL="2227478" indent="0" algn="ctr">
              <a:buNone/>
              <a:defRPr sz="2598"/>
            </a:lvl4pPr>
            <a:lvl5pPr marL="2969971" indent="0" algn="ctr">
              <a:buNone/>
              <a:defRPr sz="2598"/>
            </a:lvl5pPr>
            <a:lvl6pPr marL="3712464" indent="0" algn="ctr">
              <a:buNone/>
              <a:defRPr sz="2598"/>
            </a:lvl6pPr>
            <a:lvl7pPr marL="4454957" indent="0" algn="ctr">
              <a:buNone/>
              <a:defRPr sz="2598"/>
            </a:lvl7pPr>
            <a:lvl8pPr marL="5197450" indent="0" algn="ctr">
              <a:buNone/>
              <a:defRPr sz="2598"/>
            </a:lvl8pPr>
            <a:lvl9pPr marL="5939942" indent="0" algn="ctr">
              <a:buNone/>
              <a:defRPr sz="2598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48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40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3141249"/>
            <a:ext cx="17076896" cy="5241244"/>
          </a:xfrm>
        </p:spPr>
        <p:txBody>
          <a:bodyPr anchor="b"/>
          <a:lstStyle>
            <a:lvl1pPr>
              <a:defRPr sz="9744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8432077"/>
            <a:ext cx="17076896" cy="2756246"/>
          </a:xfrm>
        </p:spPr>
        <p:txBody>
          <a:bodyPr/>
          <a:lstStyle>
            <a:lvl1pPr marL="0" indent="0">
              <a:buNone/>
              <a:defRPr sz="3898">
                <a:solidFill>
                  <a:schemeClr val="tx1">
                    <a:tint val="75000"/>
                  </a:schemeClr>
                </a:solidFill>
              </a:defRPr>
            </a:lvl1pPr>
            <a:lvl2pPr marL="742493" indent="0">
              <a:buNone/>
              <a:defRPr sz="3248">
                <a:solidFill>
                  <a:schemeClr val="tx1">
                    <a:tint val="75000"/>
                  </a:schemeClr>
                </a:solidFill>
              </a:defRPr>
            </a:lvl2pPr>
            <a:lvl3pPr marL="1484986" indent="0">
              <a:buNone/>
              <a:defRPr sz="2923">
                <a:solidFill>
                  <a:schemeClr val="tx1">
                    <a:tint val="75000"/>
                  </a:schemeClr>
                </a:solidFill>
              </a:defRPr>
            </a:lvl3pPr>
            <a:lvl4pPr marL="2227478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4pPr>
            <a:lvl5pPr marL="2969971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5pPr>
            <a:lvl6pPr marL="3712464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6pPr>
            <a:lvl7pPr marL="4454957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7pPr>
            <a:lvl8pPr marL="5197450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8pPr>
            <a:lvl9pPr marL="5939942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81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3354163"/>
            <a:ext cx="8414703" cy="7994577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3354163"/>
            <a:ext cx="8414703" cy="7994577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8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670834"/>
            <a:ext cx="17076896" cy="243541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3088748"/>
            <a:ext cx="8376031" cy="1513748"/>
          </a:xfrm>
        </p:spPr>
        <p:txBody>
          <a:bodyPr anchor="b"/>
          <a:lstStyle>
            <a:lvl1pPr marL="0" indent="0">
              <a:buNone/>
              <a:defRPr sz="3898" b="1"/>
            </a:lvl1pPr>
            <a:lvl2pPr marL="742493" indent="0">
              <a:buNone/>
              <a:defRPr sz="3248" b="1"/>
            </a:lvl2pPr>
            <a:lvl3pPr marL="1484986" indent="0">
              <a:buNone/>
              <a:defRPr sz="2923" b="1"/>
            </a:lvl3pPr>
            <a:lvl4pPr marL="2227478" indent="0">
              <a:buNone/>
              <a:defRPr sz="2598" b="1"/>
            </a:lvl4pPr>
            <a:lvl5pPr marL="2969971" indent="0">
              <a:buNone/>
              <a:defRPr sz="2598" b="1"/>
            </a:lvl5pPr>
            <a:lvl6pPr marL="3712464" indent="0">
              <a:buNone/>
              <a:defRPr sz="2598" b="1"/>
            </a:lvl6pPr>
            <a:lvl7pPr marL="4454957" indent="0">
              <a:buNone/>
              <a:defRPr sz="2598" b="1"/>
            </a:lvl7pPr>
            <a:lvl8pPr marL="5197450" indent="0">
              <a:buNone/>
              <a:defRPr sz="2598" b="1"/>
            </a:lvl8pPr>
            <a:lvl9pPr marL="5939942" indent="0">
              <a:buNone/>
              <a:defRPr sz="2598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4602496"/>
            <a:ext cx="8376031" cy="676957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3088748"/>
            <a:ext cx="8417281" cy="1513748"/>
          </a:xfrm>
        </p:spPr>
        <p:txBody>
          <a:bodyPr anchor="b"/>
          <a:lstStyle>
            <a:lvl1pPr marL="0" indent="0">
              <a:buNone/>
              <a:defRPr sz="3898" b="1"/>
            </a:lvl1pPr>
            <a:lvl2pPr marL="742493" indent="0">
              <a:buNone/>
              <a:defRPr sz="3248" b="1"/>
            </a:lvl2pPr>
            <a:lvl3pPr marL="1484986" indent="0">
              <a:buNone/>
              <a:defRPr sz="2923" b="1"/>
            </a:lvl3pPr>
            <a:lvl4pPr marL="2227478" indent="0">
              <a:buNone/>
              <a:defRPr sz="2598" b="1"/>
            </a:lvl4pPr>
            <a:lvl5pPr marL="2969971" indent="0">
              <a:buNone/>
              <a:defRPr sz="2598" b="1"/>
            </a:lvl5pPr>
            <a:lvl6pPr marL="3712464" indent="0">
              <a:buNone/>
              <a:defRPr sz="2598" b="1"/>
            </a:lvl6pPr>
            <a:lvl7pPr marL="4454957" indent="0">
              <a:buNone/>
              <a:defRPr sz="2598" b="1"/>
            </a:lvl7pPr>
            <a:lvl8pPr marL="5197450" indent="0">
              <a:buNone/>
              <a:defRPr sz="2598" b="1"/>
            </a:lvl8pPr>
            <a:lvl9pPr marL="5939942" indent="0">
              <a:buNone/>
              <a:defRPr sz="2598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4602496"/>
            <a:ext cx="8417281" cy="676957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077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96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6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839999"/>
            <a:ext cx="6385789" cy="2939997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1814166"/>
            <a:ext cx="10023396" cy="8954158"/>
          </a:xfrm>
        </p:spPr>
        <p:txBody>
          <a:bodyPr/>
          <a:lstStyle>
            <a:lvl1pPr>
              <a:defRPr sz="5197"/>
            </a:lvl1pPr>
            <a:lvl2pPr>
              <a:defRPr sz="4547"/>
            </a:lvl2pPr>
            <a:lvl3pPr>
              <a:defRPr sz="3898"/>
            </a:lvl3pPr>
            <a:lvl4pPr>
              <a:defRPr sz="3248"/>
            </a:lvl4pPr>
            <a:lvl5pPr>
              <a:defRPr sz="3248"/>
            </a:lvl5pPr>
            <a:lvl6pPr>
              <a:defRPr sz="3248"/>
            </a:lvl6pPr>
            <a:lvl7pPr>
              <a:defRPr sz="3248"/>
            </a:lvl7pPr>
            <a:lvl8pPr>
              <a:defRPr sz="3248"/>
            </a:lvl8pPr>
            <a:lvl9pPr>
              <a:defRPr sz="3248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3779996"/>
            <a:ext cx="6385789" cy="7002911"/>
          </a:xfrm>
        </p:spPr>
        <p:txBody>
          <a:bodyPr/>
          <a:lstStyle>
            <a:lvl1pPr marL="0" indent="0">
              <a:buNone/>
              <a:defRPr sz="2598"/>
            </a:lvl1pPr>
            <a:lvl2pPr marL="742493" indent="0">
              <a:buNone/>
              <a:defRPr sz="2274"/>
            </a:lvl2pPr>
            <a:lvl3pPr marL="1484986" indent="0">
              <a:buNone/>
              <a:defRPr sz="1949"/>
            </a:lvl3pPr>
            <a:lvl4pPr marL="2227478" indent="0">
              <a:buNone/>
              <a:defRPr sz="1624"/>
            </a:lvl4pPr>
            <a:lvl5pPr marL="2969971" indent="0">
              <a:buNone/>
              <a:defRPr sz="1624"/>
            </a:lvl5pPr>
            <a:lvl6pPr marL="3712464" indent="0">
              <a:buNone/>
              <a:defRPr sz="1624"/>
            </a:lvl6pPr>
            <a:lvl7pPr marL="4454957" indent="0">
              <a:buNone/>
              <a:defRPr sz="1624"/>
            </a:lvl7pPr>
            <a:lvl8pPr marL="5197450" indent="0">
              <a:buNone/>
              <a:defRPr sz="1624"/>
            </a:lvl8pPr>
            <a:lvl9pPr marL="5939942" indent="0">
              <a:buNone/>
              <a:defRPr sz="1624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70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839999"/>
            <a:ext cx="6385789" cy="2939997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1814166"/>
            <a:ext cx="10023396" cy="8954158"/>
          </a:xfrm>
        </p:spPr>
        <p:txBody>
          <a:bodyPr anchor="t"/>
          <a:lstStyle>
            <a:lvl1pPr marL="0" indent="0">
              <a:buNone/>
              <a:defRPr sz="5197"/>
            </a:lvl1pPr>
            <a:lvl2pPr marL="742493" indent="0">
              <a:buNone/>
              <a:defRPr sz="4547"/>
            </a:lvl2pPr>
            <a:lvl3pPr marL="1484986" indent="0">
              <a:buNone/>
              <a:defRPr sz="3898"/>
            </a:lvl3pPr>
            <a:lvl4pPr marL="2227478" indent="0">
              <a:buNone/>
              <a:defRPr sz="3248"/>
            </a:lvl4pPr>
            <a:lvl5pPr marL="2969971" indent="0">
              <a:buNone/>
              <a:defRPr sz="3248"/>
            </a:lvl5pPr>
            <a:lvl6pPr marL="3712464" indent="0">
              <a:buNone/>
              <a:defRPr sz="3248"/>
            </a:lvl6pPr>
            <a:lvl7pPr marL="4454957" indent="0">
              <a:buNone/>
              <a:defRPr sz="3248"/>
            </a:lvl7pPr>
            <a:lvl8pPr marL="5197450" indent="0">
              <a:buNone/>
              <a:defRPr sz="3248"/>
            </a:lvl8pPr>
            <a:lvl9pPr marL="5939942" indent="0">
              <a:buNone/>
              <a:defRPr sz="3248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3779996"/>
            <a:ext cx="6385789" cy="7002911"/>
          </a:xfrm>
        </p:spPr>
        <p:txBody>
          <a:bodyPr/>
          <a:lstStyle>
            <a:lvl1pPr marL="0" indent="0">
              <a:buNone/>
              <a:defRPr sz="2598"/>
            </a:lvl1pPr>
            <a:lvl2pPr marL="742493" indent="0">
              <a:buNone/>
              <a:defRPr sz="2274"/>
            </a:lvl2pPr>
            <a:lvl3pPr marL="1484986" indent="0">
              <a:buNone/>
              <a:defRPr sz="1949"/>
            </a:lvl3pPr>
            <a:lvl4pPr marL="2227478" indent="0">
              <a:buNone/>
              <a:defRPr sz="1624"/>
            </a:lvl4pPr>
            <a:lvl5pPr marL="2969971" indent="0">
              <a:buNone/>
              <a:defRPr sz="1624"/>
            </a:lvl5pPr>
            <a:lvl6pPr marL="3712464" indent="0">
              <a:buNone/>
              <a:defRPr sz="1624"/>
            </a:lvl6pPr>
            <a:lvl7pPr marL="4454957" indent="0">
              <a:buNone/>
              <a:defRPr sz="1624"/>
            </a:lvl7pPr>
            <a:lvl8pPr marL="5197450" indent="0">
              <a:buNone/>
              <a:defRPr sz="1624"/>
            </a:lvl8pPr>
            <a:lvl9pPr marL="5939942" indent="0">
              <a:buNone/>
              <a:defRPr sz="1624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00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35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670833"/>
            <a:ext cx="4269224" cy="10677907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670833"/>
            <a:ext cx="12560181" cy="10677907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56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670834"/>
            <a:ext cx="17076896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3354163"/>
            <a:ext cx="17076896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11678323"/>
            <a:ext cx="445484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F3D7D-716B-474F-B1C0-888671FA9C54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11678323"/>
            <a:ext cx="6682264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11678323"/>
            <a:ext cx="445484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63FD8-79F5-4FC3-80CF-56CDF079A7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64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84986" rtl="0" eaLnBrk="1" latinLnBrk="0" hangingPunct="1">
        <a:lnSpc>
          <a:spcPct val="90000"/>
        </a:lnSpc>
        <a:spcBef>
          <a:spcPct val="0"/>
        </a:spcBef>
        <a:buNone/>
        <a:defRPr kumimoji="1" sz="71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246" indent="-371246" algn="l" defTabSz="1484986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kumimoji="1" sz="4547" kern="1200">
          <a:solidFill>
            <a:schemeClr val="tx1"/>
          </a:solidFill>
          <a:latin typeface="+mn-lt"/>
          <a:ea typeface="+mn-ea"/>
          <a:cs typeface="+mn-cs"/>
        </a:defRPr>
      </a:lvl1pPr>
      <a:lvl2pPr marL="1113739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3898" kern="1200">
          <a:solidFill>
            <a:schemeClr val="tx1"/>
          </a:solidFill>
          <a:latin typeface="+mn-lt"/>
          <a:ea typeface="+mn-ea"/>
          <a:cs typeface="+mn-cs"/>
        </a:defRPr>
      </a:lvl2pPr>
      <a:lvl3pPr marL="1856232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3248" kern="1200">
          <a:solidFill>
            <a:schemeClr val="tx1"/>
          </a:solidFill>
          <a:latin typeface="+mn-lt"/>
          <a:ea typeface="+mn-ea"/>
          <a:cs typeface="+mn-cs"/>
        </a:defRPr>
      </a:lvl3pPr>
      <a:lvl4pPr marL="2598725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4pPr>
      <a:lvl5pPr marL="3341218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5pPr>
      <a:lvl6pPr marL="4083710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6pPr>
      <a:lvl7pPr marL="4826203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7pPr>
      <a:lvl8pPr marL="5568696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8pPr>
      <a:lvl9pPr marL="6311189" indent="-371246" algn="l" defTabSz="1484986" rtl="0" eaLnBrk="1" latinLnBrk="0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1pPr>
      <a:lvl2pPr marL="742493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2pPr>
      <a:lvl3pPr marL="1484986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3pPr>
      <a:lvl4pPr marL="2227478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4pPr>
      <a:lvl5pPr marL="2969971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5pPr>
      <a:lvl6pPr marL="3712464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6pPr>
      <a:lvl7pPr marL="4454957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7pPr>
      <a:lvl8pPr marL="5197450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8pPr>
      <a:lvl9pPr marL="5939942" algn="l" defTabSz="1484986" rtl="0" eaLnBrk="1" latinLnBrk="0" hangingPunct="1">
        <a:defRPr kumimoji="1" sz="29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4079568" y="2804942"/>
            <a:ext cx="6405095" cy="351005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611"/>
          </a:p>
        </p:txBody>
      </p:sp>
      <p:sp>
        <p:nvSpPr>
          <p:cNvPr id="5" name="円/楕円 4"/>
          <p:cNvSpPr/>
          <p:nvPr/>
        </p:nvSpPr>
        <p:spPr>
          <a:xfrm>
            <a:off x="8759637" y="2804942"/>
            <a:ext cx="6405095" cy="3510052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611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164595" y="3929958"/>
            <a:ext cx="1740026" cy="89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5197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肺炎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0660915" y="3929959"/>
            <a:ext cx="3472551" cy="89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5197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尿路感染</a:t>
            </a:r>
          </a:p>
        </p:txBody>
      </p:sp>
      <p:cxnSp>
        <p:nvCxnSpPr>
          <p:cNvPr id="13" name="直線コネクタ 12"/>
          <p:cNvCxnSpPr/>
          <p:nvPr/>
        </p:nvCxnSpPr>
        <p:spPr>
          <a:xfrm flipH="1">
            <a:off x="4990081" y="5728836"/>
            <a:ext cx="1082395" cy="855045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2947542" y="6531843"/>
            <a:ext cx="3374544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78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咳嗽、喀痰、</a:t>
            </a:r>
            <a:endParaRPr lang="en-US" altLang="ja-JP" sz="378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378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呼吸困難</a:t>
            </a:r>
            <a:endParaRPr lang="en-US" altLang="ja-JP" sz="378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2"/>
          <a:srcRect l="86343"/>
          <a:stretch/>
        </p:blipFill>
        <p:spPr>
          <a:xfrm>
            <a:off x="9615799" y="2785809"/>
            <a:ext cx="879128" cy="3549959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 rotWithShape="1">
          <a:blip r:embed="rId2"/>
          <a:srcRect r="86378"/>
          <a:stretch/>
        </p:blipFill>
        <p:spPr>
          <a:xfrm>
            <a:off x="8738867" y="2785809"/>
            <a:ext cx="876937" cy="3549959"/>
          </a:xfrm>
          <a:prstGeom prst="rect">
            <a:avLst/>
          </a:prstGeom>
        </p:spPr>
      </p:pic>
      <p:sp>
        <p:nvSpPr>
          <p:cNvPr id="20" name="テキスト ボックス 19"/>
          <p:cNvSpPr txBox="1"/>
          <p:nvPr/>
        </p:nvSpPr>
        <p:spPr>
          <a:xfrm>
            <a:off x="6306200" y="6583876"/>
            <a:ext cx="5842010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78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発熱、炎症反応</a:t>
            </a:r>
            <a:endParaRPr lang="en-US" altLang="ja-JP" sz="378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378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（両疾患に共通する特徴）</a:t>
            </a:r>
            <a:endParaRPr lang="en-US" altLang="ja-JP" sz="378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1" name="直線コネクタ 20"/>
          <p:cNvCxnSpPr>
            <a:endCxn id="20" idx="0"/>
          </p:cNvCxnSpPr>
          <p:nvPr/>
        </p:nvCxnSpPr>
        <p:spPr>
          <a:xfrm flipH="1">
            <a:off x="9227205" y="5033052"/>
            <a:ext cx="378328" cy="1550824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12290235" y="6531843"/>
            <a:ext cx="4463467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78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膀胱刺激症状、</a:t>
            </a:r>
            <a:endParaRPr lang="en-US" altLang="ja-JP" sz="378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378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尿中白血球数上昇</a:t>
            </a:r>
            <a:endParaRPr lang="en-US" altLang="ja-JP" sz="378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13375091" y="5427673"/>
            <a:ext cx="540007" cy="110417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図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862" y="6910943"/>
            <a:ext cx="13811000" cy="5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8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08" y="670834"/>
            <a:ext cx="6400800" cy="64008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="" xmlns:a16="http://schemas.microsoft.com/office/drawing/2014/main" id="{88FBC004-62D2-AA11-96AF-343020086D18}"/>
              </a:ext>
            </a:extLst>
          </p:cNvPr>
          <p:cNvSpPr txBox="1"/>
          <p:nvPr/>
        </p:nvSpPr>
        <p:spPr>
          <a:xfrm>
            <a:off x="4041563" y="4779931"/>
            <a:ext cx="3369891" cy="9297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smtClean="0"/>
              <a:t>AUC </a:t>
            </a:r>
            <a:r>
              <a:rPr lang="en-US" altLang="zh-TW" dirty="0" smtClean="0"/>
              <a:t>0.708</a:t>
            </a:r>
            <a:endParaRPr lang="en-US" altLang="zh-TW" dirty="0" smtClean="0"/>
          </a:p>
          <a:p>
            <a:r>
              <a:rPr lang="en-US" altLang="zh-TW" dirty="0" smtClean="0"/>
              <a:t> </a:t>
            </a:r>
            <a:r>
              <a:rPr lang="en-US" altLang="zh-TW" dirty="0"/>
              <a:t>(</a:t>
            </a:r>
            <a:r>
              <a:rPr lang="en-US" altLang="zh-TW" dirty="0" smtClean="0"/>
              <a:t>95%Cl </a:t>
            </a:r>
            <a:r>
              <a:rPr lang="en-US" altLang="zh-TW" dirty="0" smtClean="0"/>
              <a:t>0.661 </a:t>
            </a:r>
            <a:r>
              <a:rPr lang="en-US" altLang="zh-TW" dirty="0"/>
              <a:t>- </a:t>
            </a:r>
            <a:r>
              <a:rPr lang="en-US" altLang="zh-TW" dirty="0" smtClean="0"/>
              <a:t>0.755)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498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8365404" y="755587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目的変数</a:t>
            </a:r>
          </a:p>
        </p:txBody>
      </p:sp>
      <p:sp>
        <p:nvSpPr>
          <p:cNvPr id="5" name="角丸四角形 4"/>
          <p:cNvSpPr/>
          <p:nvPr/>
        </p:nvSpPr>
        <p:spPr>
          <a:xfrm>
            <a:off x="3074153" y="1606131"/>
            <a:ext cx="2096017" cy="770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値変数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3036041" y="2851033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説明変数</a:t>
            </a:r>
          </a:p>
        </p:txBody>
      </p:sp>
      <p:sp>
        <p:nvSpPr>
          <p:cNvPr id="7" name="角丸四角形 6"/>
          <p:cNvSpPr/>
          <p:nvPr/>
        </p:nvSpPr>
        <p:spPr>
          <a:xfrm>
            <a:off x="13457503" y="1571458"/>
            <a:ext cx="2096017" cy="770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連続変数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1114894" y="4344248"/>
            <a:ext cx="2096017" cy="770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値変数</a:t>
            </a:r>
          </a:p>
        </p:txBody>
      </p:sp>
      <p:sp>
        <p:nvSpPr>
          <p:cNvPr id="9" name="角丸四角形 8"/>
          <p:cNvSpPr/>
          <p:nvPr/>
        </p:nvSpPr>
        <p:spPr>
          <a:xfrm>
            <a:off x="4984950" y="4140017"/>
            <a:ext cx="2096017" cy="770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連続変数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751136" y="5780284"/>
            <a:ext cx="3131323" cy="1255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カイ二乗検定</a:t>
            </a:r>
            <a:endParaRPr lang="en-US" altLang="ja-JP" sz="24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Fisher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の正確検定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507295" y="7058323"/>
            <a:ext cx="3575932" cy="412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対応あり：</a:t>
            </a:r>
            <a:r>
              <a:rPr lang="en-US" altLang="ja-JP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McNemar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5018164" y="5807982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非正規分布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4497085" y="7393376"/>
            <a:ext cx="2946008" cy="1255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Mann-Whitney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4214998" y="8958864"/>
            <a:ext cx="4662051" cy="412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対応あり：</a:t>
            </a:r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Wilcoxon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の符号順位検定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13498989" y="2888315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説明変数</a:t>
            </a:r>
          </a:p>
        </p:txBody>
      </p:sp>
      <p:sp>
        <p:nvSpPr>
          <p:cNvPr id="20" name="角丸四角形 19"/>
          <p:cNvSpPr/>
          <p:nvPr/>
        </p:nvSpPr>
        <p:spPr>
          <a:xfrm>
            <a:off x="15633115" y="4344247"/>
            <a:ext cx="2096017" cy="770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連続変数</a:t>
            </a:r>
          </a:p>
        </p:txBody>
      </p:sp>
      <p:sp>
        <p:nvSpPr>
          <p:cNvPr id="22" name="角丸四角形 21"/>
          <p:cNvSpPr/>
          <p:nvPr/>
        </p:nvSpPr>
        <p:spPr>
          <a:xfrm>
            <a:off x="10904373" y="4344247"/>
            <a:ext cx="2096017" cy="770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値変数</a:t>
            </a:r>
          </a:p>
        </p:txBody>
      </p:sp>
      <p:sp>
        <p:nvSpPr>
          <p:cNvPr id="24" name="正方形/長方形 23"/>
          <p:cNvSpPr/>
          <p:nvPr/>
        </p:nvSpPr>
        <p:spPr>
          <a:xfrm>
            <a:off x="17055140" y="5940136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正規分布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14761063" y="5940136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非正規分布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14003938" y="8314497"/>
            <a:ext cx="2469353" cy="1255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Spearman </a:t>
            </a:r>
            <a:r>
              <a:rPr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の順位相関係数</a:t>
            </a:r>
            <a:endParaRPr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17213456" y="8331026"/>
            <a:ext cx="2297380" cy="1255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Pearson </a:t>
            </a:r>
            <a:r>
              <a:rPr lang="ja-JP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の累積相関係数</a:t>
            </a:r>
            <a:endParaRPr lang="ja-JP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10167995" y="5862471"/>
            <a:ext cx="2134126" cy="81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非正規分布</a:t>
            </a:r>
          </a:p>
        </p:txBody>
      </p:sp>
      <p:sp>
        <p:nvSpPr>
          <p:cNvPr id="29" name="正方形/長方形 28"/>
          <p:cNvSpPr/>
          <p:nvPr/>
        </p:nvSpPr>
        <p:spPr>
          <a:xfrm>
            <a:off x="9646916" y="7447865"/>
            <a:ext cx="2946008" cy="12556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Mann-Whitney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</a:t>
            </a:r>
            <a:r>
              <a:rPr lang="ja-JP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</a:t>
            </a:r>
          </a:p>
        </p:txBody>
      </p:sp>
      <p:sp>
        <p:nvSpPr>
          <p:cNvPr id="30" name="正方形/長方形 29"/>
          <p:cNvSpPr/>
          <p:nvPr/>
        </p:nvSpPr>
        <p:spPr>
          <a:xfrm>
            <a:off x="9364829" y="9013353"/>
            <a:ext cx="4662051" cy="412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対応あり：</a:t>
            </a:r>
            <a:r>
              <a:rPr lang="en-US" altLang="ja-JP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Wilcoxon</a:t>
            </a:r>
            <a:r>
              <a:rPr lang="ja-JP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の符号順位検定</a:t>
            </a:r>
          </a:p>
        </p:txBody>
      </p:sp>
    </p:spTree>
    <p:extLst>
      <p:ext uri="{BB962C8B-B14F-4D97-AF65-F5344CB8AC3E}">
        <p14:creationId xmlns:p14="http://schemas.microsoft.com/office/powerpoint/2010/main" val="63480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114</Words>
  <Application>Microsoft Office PowerPoint</Application>
  <PresentationFormat>ユーザー設定</PresentationFormat>
  <Paragraphs>32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BIZ UDPゴシック</vt:lpstr>
      <vt:lpstr>ＭＳ Ｐゴシック</vt:lpstr>
      <vt:lpstr>新細明體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アカウント</dc:creator>
  <cp:lastModifiedBy>Microsoft アカウント</cp:lastModifiedBy>
  <cp:revision>9</cp:revision>
  <dcterms:created xsi:type="dcterms:W3CDTF">2026-02-03T02:04:05Z</dcterms:created>
  <dcterms:modified xsi:type="dcterms:W3CDTF">2026-02-17T07:47:09Z</dcterms:modified>
</cp:coreProperties>
</file>