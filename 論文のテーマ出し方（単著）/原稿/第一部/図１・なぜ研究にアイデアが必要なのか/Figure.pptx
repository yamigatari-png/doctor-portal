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9" autoAdjust="0"/>
    <p:restoredTop sz="94660"/>
  </p:normalViewPr>
  <p:slideViewPr>
    <p:cSldViewPr snapToGrid="0" showGuides="1">
      <p:cViewPr varScale="1">
        <p:scale>
          <a:sx n="64" d="100"/>
          <a:sy n="64" d="100"/>
        </p:scale>
        <p:origin x="78" y="197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xmlns="" id="{C4A0177F-FEDC-B8D4-A6CE-6931F945F1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xmlns="" id="{25DFCE55-3453-4360-D4F6-2E0B14AF23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xmlns="" id="{2134842D-BBC9-3669-844F-127230E91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8F398-C318-49F3-A5B2-307A163C3E59}" type="datetimeFigureOut">
              <a:rPr kumimoji="1" lang="ja-JP" altLang="en-US" smtClean="0"/>
              <a:t>2025/11/23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xmlns="" id="{223904FE-AA24-B35A-6EF4-2888242AD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xmlns="" id="{19AE9279-B31F-33B1-FF0F-3DC6743E0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A9544-E862-4EB9-99C5-E2F42F9A04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1693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xmlns="" id="{8E2FF4F3-5AA7-08A2-8ABC-F07024069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xmlns="" id="{996B04C6-2566-218D-0133-DAE6323EA3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xmlns="" id="{A746C20A-D78B-DE80-346F-64C4B364D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8F398-C318-49F3-A5B2-307A163C3E59}" type="datetimeFigureOut">
              <a:rPr kumimoji="1" lang="ja-JP" altLang="en-US" smtClean="0"/>
              <a:t>2025/11/23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xmlns="" id="{C370761C-0E74-B4BA-7BC2-66C1C809C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xmlns="" id="{C98606E8-FFB4-65FF-4CE3-F65BCAB5E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A9544-E862-4EB9-99C5-E2F42F9A04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1913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xmlns="" id="{958C26CC-BF0F-7CD5-B43E-0874ACD67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xmlns="" id="{57DF6CCE-7043-1674-8013-22CDDC54B8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xmlns="" id="{6E83F873-B78E-BB08-B0DA-D1036538E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8F398-C318-49F3-A5B2-307A163C3E59}" type="datetimeFigureOut">
              <a:rPr kumimoji="1" lang="ja-JP" altLang="en-US" smtClean="0"/>
              <a:t>2025/11/23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xmlns="" id="{A45D0587-27BF-2681-5F28-74D163710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xmlns="" id="{16A50FB2-4543-2E88-40E9-62D190E6C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A9544-E862-4EB9-99C5-E2F42F9A04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035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xmlns="" id="{CF76357D-F7B1-B8CB-CEFA-8F6BFDE5A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xmlns="" id="{6B62915D-8B62-924A-735C-D80F245197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xmlns="" id="{A5A7D61C-6CA4-7867-A557-F7F935A2D8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xmlns="" id="{2B0C4238-DD9E-2D03-41BC-CC80F660F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8F398-C318-49F3-A5B2-307A163C3E59}" type="datetimeFigureOut">
              <a:rPr kumimoji="1" lang="ja-JP" altLang="en-US" smtClean="0"/>
              <a:t>2025/11/23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xmlns="" id="{798E32D1-5747-813E-41B3-5CCDF419F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xmlns="" id="{F6266570-7DA4-9A7C-EC7D-D355E7C6C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A9544-E862-4EB9-99C5-E2F42F9A04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5864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xmlns="" id="{624B4950-B2B9-8F8B-1521-A36D35255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xmlns="" id="{B48C0F63-A110-2036-1C49-79FF4EDF4D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xmlns="" id="{D6AD07D3-CA25-7A43-1ADA-5FBEB16EC8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xmlns="" id="{E9785422-D791-7EE5-6874-7BE95B444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xmlns="" id="{D9B993F1-8A5F-2665-D01F-0EFA9E2B5B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xmlns="" id="{47864377-7614-53C1-B078-DDFE11763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8F398-C318-49F3-A5B2-307A163C3E59}" type="datetimeFigureOut">
              <a:rPr kumimoji="1" lang="ja-JP" altLang="en-US" smtClean="0"/>
              <a:t>2025/11/23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xmlns="" id="{40B9A9B5-2311-7DB1-6B72-433EA3DC8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xmlns="" id="{7D3C6A47-93BD-1A3C-8799-A6C6884DA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A9544-E862-4EB9-99C5-E2F42F9A04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7391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xmlns="" id="{339E8501-0269-98D9-267F-B9E7F4F8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xmlns="" id="{AC5B9734-86FB-748C-B02D-0DA841151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8F398-C318-49F3-A5B2-307A163C3E59}" type="datetimeFigureOut">
              <a:rPr kumimoji="1" lang="ja-JP" altLang="en-US" smtClean="0"/>
              <a:t>2025/11/23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xmlns="" id="{8CFDB375-74C3-D2EA-4772-0C3536503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xmlns="" id="{C51DD98C-1BA4-43E7-B785-0E897EEF3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A9544-E862-4EB9-99C5-E2F42F9A04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886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xmlns="" id="{88A61C61-5339-890A-B097-DFD7D77F9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8F398-C318-49F3-A5B2-307A163C3E59}" type="datetimeFigureOut">
              <a:rPr kumimoji="1" lang="ja-JP" altLang="en-US" smtClean="0"/>
              <a:t>2025/11/23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xmlns="" id="{713B0861-12E4-6AFE-F9F1-E1415FA9F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xmlns="" id="{2932DD7A-33BD-8348-2EDC-62DBCEECD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A9544-E862-4EB9-99C5-E2F42F9A04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4620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xmlns="" id="{D0788A7A-F3B0-135B-6B7F-5C3D77EE1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xmlns="" id="{6F651877-9589-599E-5189-E78CC0CD00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xmlns="" id="{6B3D6FC7-4BB3-A3A2-A9BC-BC250096BC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xmlns="" id="{C460B40F-EC3E-389C-4F4F-6136DD8C6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8F398-C318-49F3-A5B2-307A163C3E59}" type="datetimeFigureOut">
              <a:rPr kumimoji="1" lang="ja-JP" altLang="en-US" smtClean="0"/>
              <a:t>2025/11/23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xmlns="" id="{BBBAFD33-D3B7-FC24-2567-CF7313883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xmlns="" id="{350841EE-7DC5-AD13-EADE-44952FA14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A9544-E862-4EB9-99C5-E2F42F9A04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8085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xmlns="" id="{636FCB31-D0ED-A733-3E91-ACED7934B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xmlns="" id="{B0A43610-42C9-0596-48AF-4F96774D6B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xmlns="" id="{AE15D427-03B7-47D5-773F-3EE16AC037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xmlns="" id="{A5C968A7-2B95-8B6B-3098-F19E15D0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8F398-C318-49F3-A5B2-307A163C3E59}" type="datetimeFigureOut">
              <a:rPr kumimoji="1" lang="ja-JP" altLang="en-US" smtClean="0"/>
              <a:t>2025/11/23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xmlns="" id="{449D089B-713D-3968-73B2-BBA8B6A9A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xmlns="" id="{E160346F-9172-853F-F2AD-13F190DE2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A9544-E862-4EB9-99C5-E2F42F9A04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9593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xmlns="" id="{B686334E-4C77-3C1C-7628-0FDF846F6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xmlns="" id="{7EEB389C-D48E-2D8B-09E1-1737B55E0F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xmlns="" id="{933B9695-C19A-C5FE-C09B-A9E198FBB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8F398-C318-49F3-A5B2-307A163C3E59}" type="datetimeFigureOut">
              <a:rPr kumimoji="1" lang="ja-JP" altLang="en-US" smtClean="0"/>
              <a:t>2025/11/23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xmlns="" id="{CA725302-832A-6E04-DF0E-C7ED48D69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xmlns="" id="{20BDE4D0-35F1-3119-6D99-31578F45E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A9544-E862-4EB9-99C5-E2F42F9A04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2705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xmlns="" id="{AF493115-A5D4-EA69-4B01-CCC264E82B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xmlns="" id="{02ACE987-681B-09A1-933A-91544CC1BD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xmlns="" id="{095684A3-3F50-03CB-7BA8-AF45FD295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8F398-C318-49F3-A5B2-307A163C3E59}" type="datetimeFigureOut">
              <a:rPr kumimoji="1" lang="ja-JP" altLang="en-US" smtClean="0"/>
              <a:t>2025/11/23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xmlns="" id="{2C95F6E1-FB55-855F-5615-6C0B95A55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xmlns="" id="{C1F71E39-9815-EBB9-A006-105026965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A9544-E862-4EB9-99C5-E2F42F9A04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7257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xmlns="" id="{4F6AB915-9A69-335E-7639-3389EA581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xmlns="" id="{F9B8BD1C-A06B-3042-4F71-75D942CEA2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xmlns="" id="{16D9E4FE-EBB6-EF73-AD9B-97D8759C28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48F398-C318-49F3-A5B2-307A163C3E59}" type="datetimeFigureOut">
              <a:rPr kumimoji="1" lang="ja-JP" altLang="en-US" smtClean="0"/>
              <a:t>2025/11/23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xmlns="" id="{9285AF23-1A4D-DBB5-7439-403D39B63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xmlns="" id="{2AF29B35-8760-CF81-E7A8-F0B826B32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CA9544-E862-4EB9-99C5-E2F42F9A04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874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図 23" descr="アイコン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xmlns="" id="{20BC355E-FA74-FA10-EF5D-B09417D2C9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6939" y="4009662"/>
            <a:ext cx="3590504" cy="2989277"/>
          </a:xfrm>
          <a:prstGeom prst="rect">
            <a:avLst/>
          </a:prstGeom>
        </p:spPr>
      </p:pic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xmlns="" id="{AFE4392C-AC7E-9128-146F-4783DFF0F159}"/>
              </a:ext>
            </a:extLst>
          </p:cNvPr>
          <p:cNvSpPr/>
          <p:nvPr/>
        </p:nvSpPr>
        <p:spPr>
          <a:xfrm>
            <a:off x="293911" y="383724"/>
            <a:ext cx="7284159" cy="6286498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xmlns="" id="{21D63F2C-E953-5E95-5353-6DD9962821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66" t="20187" r="2579" b="4706"/>
          <a:stretch>
            <a:fillRect/>
          </a:stretch>
        </p:blipFill>
        <p:spPr>
          <a:xfrm>
            <a:off x="2628898" y="-5139718"/>
            <a:ext cx="8896863" cy="4789034"/>
          </a:xfrm>
          <a:prstGeom prst="rect">
            <a:avLst/>
          </a:prstGeom>
        </p:spPr>
      </p:pic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xmlns="" id="{E0A0386C-B4DE-9625-1701-97A93921CEB8}"/>
              </a:ext>
            </a:extLst>
          </p:cNvPr>
          <p:cNvSpPr/>
          <p:nvPr/>
        </p:nvSpPr>
        <p:spPr>
          <a:xfrm>
            <a:off x="1070032" y="1645834"/>
            <a:ext cx="6508038" cy="502438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xmlns="" id="{B62B097C-04B1-7F52-A90D-C1ED14CED081}"/>
              </a:ext>
            </a:extLst>
          </p:cNvPr>
          <p:cNvSpPr txBox="1"/>
          <p:nvPr/>
        </p:nvSpPr>
        <p:spPr>
          <a:xfrm>
            <a:off x="1681838" y="2280536"/>
            <a:ext cx="5689699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介入研究（</a:t>
            </a:r>
            <a:r>
              <a:rPr lang="en-US" altLang="ja-JP" sz="2800" dirty="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Intervention study</a:t>
            </a:r>
            <a:r>
              <a:rPr lang="ja-JP" altLang="en-US" sz="2800" dirty="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）</a:t>
            </a:r>
            <a:endParaRPr lang="en-US" altLang="ja-JP" sz="2800" dirty="0"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  <a:p>
            <a:r>
              <a:rPr kumimoji="1" lang="ja-JP" altLang="en-US" sz="2800" dirty="0" smtClean="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観察</a:t>
            </a:r>
            <a:r>
              <a:rPr kumimoji="1" lang="ja-JP" altLang="en-US" sz="2800" dirty="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研究（</a:t>
            </a:r>
            <a:r>
              <a:rPr kumimoji="1" lang="en-US" altLang="ja-JP" sz="2800" dirty="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Observational study</a:t>
            </a:r>
            <a:r>
              <a:rPr kumimoji="1" lang="ja-JP" altLang="en-US" sz="2800" dirty="0" smtClean="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）</a:t>
            </a:r>
            <a:endParaRPr lang="en-US" altLang="ja-JP" sz="2400" dirty="0"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  <a:p>
            <a:r>
              <a:rPr kumimoji="1" lang="ja-JP" altLang="en-US" sz="2400" dirty="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　症例対照研究（</a:t>
            </a:r>
            <a:r>
              <a:rPr kumimoji="1" lang="en-US" altLang="ja-JP" sz="2400" dirty="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Case-control study</a:t>
            </a:r>
            <a:r>
              <a:rPr kumimoji="1" lang="ja-JP" altLang="en-US" sz="2400" dirty="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）</a:t>
            </a:r>
            <a:endParaRPr kumimoji="1" lang="en-US" altLang="ja-JP" sz="2400" dirty="0"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  <a:p>
            <a:r>
              <a:rPr lang="ja-JP" altLang="en-US" sz="2400" dirty="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　コホート研究（</a:t>
            </a:r>
            <a:r>
              <a:rPr lang="en-US" altLang="ja-JP" sz="2400" dirty="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Cohort study</a:t>
            </a:r>
            <a:r>
              <a:rPr lang="ja-JP" altLang="en-US" sz="2400" dirty="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）</a:t>
            </a:r>
            <a:endParaRPr kumimoji="1" lang="ja-JP" altLang="en-US" sz="2400" dirty="0"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xmlns="" id="{A34EF8C3-8616-8C79-B73F-05E663C8B322}"/>
              </a:ext>
            </a:extLst>
          </p:cNvPr>
          <p:cNvSpPr/>
          <p:nvPr/>
        </p:nvSpPr>
        <p:spPr>
          <a:xfrm>
            <a:off x="2432955" y="4482059"/>
            <a:ext cx="5145115" cy="218816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xmlns="" id="{15C4B06F-E780-7EBC-A3E9-BF7BF02B044A}"/>
              </a:ext>
            </a:extLst>
          </p:cNvPr>
          <p:cNvSpPr txBox="1"/>
          <p:nvPr/>
        </p:nvSpPr>
        <p:spPr>
          <a:xfrm>
            <a:off x="2719809" y="5031531"/>
            <a:ext cx="48582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介入</a:t>
            </a:r>
            <a:r>
              <a:rPr kumimoji="1" lang="ja-JP" altLang="en-US" sz="2800" dirty="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研究（</a:t>
            </a:r>
            <a:r>
              <a:rPr kumimoji="1" lang="en-US" altLang="ja-JP" sz="2800" dirty="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Intervention study</a:t>
            </a:r>
            <a:r>
              <a:rPr kumimoji="1" lang="ja-JP" altLang="en-US" sz="2800" dirty="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）</a:t>
            </a:r>
            <a:endParaRPr kumimoji="1" lang="en-US" altLang="ja-JP" sz="2800" dirty="0"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xmlns="" id="{AA3EE61F-97F0-9BC6-EBCF-208715A44DE1}"/>
              </a:ext>
            </a:extLst>
          </p:cNvPr>
          <p:cNvSpPr/>
          <p:nvPr/>
        </p:nvSpPr>
        <p:spPr>
          <a:xfrm>
            <a:off x="4131125" y="5771776"/>
            <a:ext cx="3446945" cy="91477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xmlns="" id="{F1A20E97-2472-B620-7E0D-8126DD509575}"/>
              </a:ext>
            </a:extLst>
          </p:cNvPr>
          <p:cNvSpPr txBox="1"/>
          <p:nvPr/>
        </p:nvSpPr>
        <p:spPr>
          <a:xfrm>
            <a:off x="5045526" y="5877608"/>
            <a:ext cx="14650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治験</a:t>
            </a:r>
            <a:endParaRPr kumimoji="1" lang="en-US" altLang="ja-JP" sz="3200" dirty="0"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xmlns="" id="{4FE17472-F6D4-2FE9-5580-56632E60AB84}"/>
              </a:ext>
            </a:extLst>
          </p:cNvPr>
          <p:cNvSpPr txBox="1"/>
          <p:nvPr/>
        </p:nvSpPr>
        <p:spPr>
          <a:xfrm>
            <a:off x="1223336" y="822143"/>
            <a:ext cx="36951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dirty="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基礎研究</a:t>
            </a:r>
            <a:endParaRPr kumimoji="1" lang="en-US" altLang="ja-JP" sz="2800" dirty="0"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xmlns="" id="{E45844E7-FC8A-EF1B-203A-C83BB1746EA3}"/>
              </a:ext>
            </a:extLst>
          </p:cNvPr>
          <p:cNvSpPr/>
          <p:nvPr/>
        </p:nvSpPr>
        <p:spPr>
          <a:xfrm>
            <a:off x="2073726" y="1453244"/>
            <a:ext cx="4436885" cy="604158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>
                <a:solidFill>
                  <a:schemeClr val="tx1"/>
                </a:solidFill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臨床研究（人に対する研究）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xmlns="" id="{C7630A85-C5AA-4000-4FDA-9349C170679D}"/>
              </a:ext>
            </a:extLst>
          </p:cNvPr>
          <p:cNvSpPr/>
          <p:nvPr/>
        </p:nvSpPr>
        <p:spPr>
          <a:xfrm>
            <a:off x="3070889" y="4220093"/>
            <a:ext cx="3949271" cy="604158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>
                <a:solidFill>
                  <a:schemeClr val="tx1"/>
                </a:solidFill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臨床試験（</a:t>
            </a:r>
            <a:r>
              <a:rPr kumimoji="1" lang="en-US" altLang="ja-JP" sz="2400" dirty="0">
                <a:solidFill>
                  <a:schemeClr val="tx1"/>
                </a:solidFill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Clinical trial</a:t>
            </a:r>
            <a:r>
              <a:rPr kumimoji="1" lang="ja-JP" altLang="en-US" sz="2400" dirty="0">
                <a:solidFill>
                  <a:schemeClr val="tx1"/>
                </a:solidFill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）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xmlns="" id="{ACE56BF5-D379-9AEC-5228-D58A3A3719E9}"/>
              </a:ext>
            </a:extLst>
          </p:cNvPr>
          <p:cNvSpPr/>
          <p:nvPr/>
        </p:nvSpPr>
        <p:spPr>
          <a:xfrm>
            <a:off x="1223335" y="164045"/>
            <a:ext cx="3695108" cy="604158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>
                <a:solidFill>
                  <a:schemeClr val="tx1"/>
                </a:solidFill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生命科学・医学系研究</a:t>
            </a:r>
          </a:p>
        </p:txBody>
      </p:sp>
      <p:sp>
        <p:nvSpPr>
          <p:cNvPr id="25" name="吹き出し: 角を丸めた四角形 24">
            <a:extLst>
              <a:ext uri="{FF2B5EF4-FFF2-40B4-BE49-F238E27FC236}">
                <a16:creationId xmlns:a16="http://schemas.microsoft.com/office/drawing/2014/main" xmlns="" id="{28F67F39-5EAE-1B0A-260F-03D17605DB46}"/>
              </a:ext>
            </a:extLst>
          </p:cNvPr>
          <p:cNvSpPr/>
          <p:nvPr/>
        </p:nvSpPr>
        <p:spPr>
          <a:xfrm>
            <a:off x="7757326" y="2405305"/>
            <a:ext cx="3429729" cy="1428748"/>
          </a:xfrm>
          <a:prstGeom prst="wedgeRoundRectCallout">
            <a:avLst>
              <a:gd name="adj1" fmla="val -14644"/>
              <a:gd name="adj2" fmla="val 75071"/>
              <a:gd name="adj3" fmla="val 16667"/>
            </a:avLst>
          </a:prstGeom>
          <a:noFill/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xmlns="" id="{37F323E5-5679-4878-CA82-831C07A84DE5}"/>
              </a:ext>
            </a:extLst>
          </p:cNvPr>
          <p:cNvSpPr txBox="1"/>
          <p:nvPr/>
        </p:nvSpPr>
        <p:spPr>
          <a:xfrm>
            <a:off x="7925243" y="2659033"/>
            <a:ext cx="315921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dirty="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この本では観察研究と介入研究が対象だよ</a:t>
            </a:r>
          </a:p>
        </p:txBody>
      </p:sp>
    </p:spTree>
    <p:extLst>
      <p:ext uri="{BB962C8B-B14F-4D97-AF65-F5344CB8AC3E}">
        <p14:creationId xmlns:p14="http://schemas.microsoft.com/office/powerpoint/2010/main" val="1410140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xmlns="" id="{4F6BADC7-A500-8E40-D7D4-61A94C1F6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11" name="コンテンツ プレースホルダー 10" descr="ダイアグラム, 設計図&#10;&#10;AI 生成コンテンツは誤りを含む可能性があります。">
            <a:extLst>
              <a:ext uri="{FF2B5EF4-FFF2-40B4-BE49-F238E27FC236}">
                <a16:creationId xmlns:a16="http://schemas.microsoft.com/office/drawing/2014/main" xmlns="" id="{B888B017-7570-9630-E467-3F6FC53F60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44" y="365125"/>
            <a:ext cx="4819650" cy="3648075"/>
          </a:xfr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xmlns="" id="{BC5C22C1-0AA1-2516-8A42-C5C99C203552}"/>
              </a:ext>
            </a:extLst>
          </p:cNvPr>
          <p:cNvSpPr txBox="1"/>
          <p:nvPr/>
        </p:nvSpPr>
        <p:spPr>
          <a:xfrm>
            <a:off x="5498647" y="-1502837"/>
            <a:ext cx="60987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0" i="0" dirty="0">
                <a:solidFill>
                  <a:srgbClr val="555D66"/>
                </a:solidFill>
                <a:effectLst/>
                <a:latin typeface="Josefin Sans" panose="020F0502020204030204" pitchFamily="2" charset="0"/>
              </a:rPr>
              <a:t>藤本修平，竹林崇，編，竹林崇</a:t>
            </a:r>
            <a:r>
              <a:rPr lang="en-US" altLang="ja-JP" b="0" i="0" dirty="0">
                <a:solidFill>
                  <a:srgbClr val="555D66"/>
                </a:solidFill>
                <a:effectLst/>
                <a:latin typeface="Josefin Sans" panose="020F0502020204030204" pitchFamily="2" charset="0"/>
              </a:rPr>
              <a:t>: PT, OT, ST</a:t>
            </a:r>
            <a:r>
              <a:rPr lang="ja-JP" altLang="en-US" b="0" i="0" dirty="0">
                <a:solidFill>
                  <a:srgbClr val="555D66"/>
                </a:solidFill>
                <a:effectLst/>
                <a:latin typeface="Josefin Sans" panose="020F0502020204030204" pitchFamily="2" charset="0"/>
              </a:rPr>
              <a:t>のための臨床に活かすエビデンスと意思決定の考え方．論文情報を判断するための研究デザイン．観察研究．医学書院，東京</a:t>
            </a:r>
            <a:r>
              <a:rPr lang="en-US" altLang="ja-JP" b="0" i="0" dirty="0">
                <a:solidFill>
                  <a:srgbClr val="555D66"/>
                </a:solidFill>
                <a:effectLst/>
                <a:latin typeface="Josefin Sans" panose="020F0502020204030204" pitchFamily="2" charset="0"/>
              </a:rPr>
              <a:t>, pp23-35, 2020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252151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106</Words>
  <Application>Microsoft Office PowerPoint</Application>
  <PresentationFormat>ワイド画面</PresentationFormat>
  <Paragraphs>12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8" baseType="lpstr">
      <vt:lpstr>HGPｺﾞｼｯｸE</vt:lpstr>
      <vt:lpstr>Josefin Sans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83 00</dc:creator>
  <cp:lastModifiedBy>Microsoft アカウント</cp:lastModifiedBy>
  <cp:revision>9</cp:revision>
  <dcterms:created xsi:type="dcterms:W3CDTF">2025-08-03T03:21:50Z</dcterms:created>
  <dcterms:modified xsi:type="dcterms:W3CDTF">2025-11-23T00:25:42Z</dcterms:modified>
</cp:coreProperties>
</file>